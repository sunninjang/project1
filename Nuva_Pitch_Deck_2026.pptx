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7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6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7824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3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PRE-SEED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Nuva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644384" y="205740"/>
            <a:ext cx="128016" cy="128016"/>
          </a:xfrm>
          <a:prstGeom prst="ellipse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WELLNESS MATCHING PLATFORM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7315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당신의 몸이</a:t>
            </a:r>
            <a:endParaRPr lang="en-US" sz="4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보내는 신호,</a:t>
            </a:r>
            <a:endParaRPr lang="en-US" sz="4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Nuva가 읽습니다.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457200" y="3703320"/>
            <a:ext cx="502920" cy="64008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48006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3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BODY HAS DATA. NUVA READS IT.  · 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E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0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건강 정보는 넘치는데</a:t>
            </a:r>
            <a:endParaRPr lang="en-US" sz="2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나한테 맞는 답은 없다.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87452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6" name="Text 4"/>
          <p:cNvSpPr/>
          <p:nvPr/>
        </p:nvSpPr>
        <p:spPr>
          <a:xfrm>
            <a:off x="557784" y="2039112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3명 중 1명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57784" y="2587752"/>
            <a:ext cx="2359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 성인 당뇨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전단계. 본인이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모르는 경우 대부분.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18688" y="187452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9" name="Text 7"/>
          <p:cNvSpPr/>
          <p:nvPr/>
        </p:nvSpPr>
        <p:spPr>
          <a:xfrm>
            <a:off x="3364992" y="2039112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6조 원+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364992" y="2587752"/>
            <a:ext cx="2359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국내 영양제 시장.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효과를 검증하는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사람은 없음.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25896" y="187452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12" name="Text 10"/>
          <p:cNvSpPr/>
          <p:nvPr/>
        </p:nvSpPr>
        <p:spPr>
          <a:xfrm>
            <a:off x="6172200" y="2039112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172200" y="2587752"/>
            <a:ext cx="2359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건강검진 후 결과지를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제대로 이해 못 하는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비율.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703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데이터는 있다. 읽어주는 사람이 없을 뿐.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MARKET SIZE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0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658368"/>
            <a:ext cx="3931920" cy="2011680"/>
          </a:xfrm>
          <a:prstGeom prst="roundRect">
            <a:avLst>
              <a:gd name="adj" fmla="val 3636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5" name="Text 3"/>
          <p:cNvSpPr/>
          <p:nvPr/>
        </p:nvSpPr>
        <p:spPr>
          <a:xfrm>
            <a:off x="576072" y="78638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· 전체 시장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76072" y="10515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42조 원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76072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국내 헬스케어·웰니스 전체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17720" y="658368"/>
            <a:ext cx="3931920" cy="2011680"/>
          </a:xfrm>
          <a:prstGeom prst="roundRect">
            <a:avLst>
              <a:gd name="adj" fmla="val 3636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9" name="Text 7"/>
          <p:cNvSpPr/>
          <p:nvPr/>
        </p:nvSpPr>
        <p:spPr>
          <a:xfrm>
            <a:off x="4782312" y="78638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· 유효 시장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82312" y="10515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6조 원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782312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영양제·기능식품 시장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852928"/>
            <a:ext cx="8321040" cy="1298448"/>
          </a:xfrm>
          <a:prstGeom prst="roundRect">
            <a:avLst>
              <a:gd name="adj" fmla="val 5634"/>
            </a:avLst>
          </a:prstGeom>
          <a:solidFill>
            <a:srgbClr val="7F77DD">
              <a:alpha val="20000"/>
            </a:srgbClr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29443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· 초기 목표 시장 (3년)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316382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2030세대 디지털 헬스케어 소비자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94360" y="356616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연평균 18% 성장 중  ·  AI 헬스케어 가장 빠른 채택층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3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*국내 건강기능식품 협회, 2026 헬스케어 시장 리포트 참조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534AB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SOLUTION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0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Nuva Lab — AI 기반</a:t>
            </a:r>
            <a:endParaRPr lang="en-US" sz="2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개인 맞춤 영양제 매칭 플랫폼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920240"/>
            <a:ext cx="8321040" cy="713232"/>
          </a:xfrm>
          <a:prstGeom prst="roundRect">
            <a:avLst>
              <a:gd name="adj" fmla="val 7692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6" name="Shape 4"/>
          <p:cNvSpPr/>
          <p:nvPr/>
        </p:nvSpPr>
        <p:spPr>
          <a:xfrm>
            <a:off x="640080" y="2093976"/>
            <a:ext cx="347472" cy="347472"/>
          </a:xfrm>
          <a:prstGeom prst="ellipse">
            <a:avLst/>
          </a:prstGeom>
          <a:solidFill>
            <a:srgbClr val="FFFFFF">
              <a:alpha val="2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7" name="Text 5"/>
          <p:cNvSpPr/>
          <p:nvPr/>
        </p:nvSpPr>
        <p:spPr>
          <a:xfrm>
            <a:off x="640080" y="20939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33856" y="20116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건강검진 데이터 업로드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33856" y="230428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혈당·간수치·호르몬 등 수치 자동 분석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2743200"/>
            <a:ext cx="8321040" cy="713232"/>
          </a:xfrm>
          <a:prstGeom prst="roundRect">
            <a:avLst>
              <a:gd name="adj" fmla="val 7692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11" name="Shape 9"/>
          <p:cNvSpPr/>
          <p:nvPr/>
        </p:nvSpPr>
        <p:spPr>
          <a:xfrm>
            <a:off x="640080" y="2916936"/>
            <a:ext cx="347472" cy="347472"/>
          </a:xfrm>
          <a:prstGeom prst="ellipse">
            <a:avLst/>
          </a:prstGeom>
          <a:solidFill>
            <a:srgbClr val="FFFFFF">
              <a:alpha val="2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2" name="Text 10"/>
          <p:cNvSpPr/>
          <p:nvPr/>
        </p:nvSpPr>
        <p:spPr>
          <a:xfrm>
            <a:off x="640080" y="2916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33856" y="28346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라이프스타일 설문 + AI 분석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33856" y="312724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수면·스트레스·식습관 패턴 종합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3566160"/>
            <a:ext cx="83210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16" name="Shape 14"/>
          <p:cNvSpPr/>
          <p:nvPr/>
        </p:nvSpPr>
        <p:spPr>
          <a:xfrm>
            <a:off x="640080" y="3739896"/>
            <a:ext cx="347472" cy="347472"/>
          </a:xfrm>
          <a:prstGeom prst="ellipse">
            <a:avLst/>
          </a:prstGeom>
          <a:solidFill>
            <a:srgbClr val="FFFFFF">
              <a:alpha val="2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7" name="Text 15"/>
          <p:cNvSpPr/>
          <p:nvPr/>
        </p:nvSpPr>
        <p:spPr>
          <a:xfrm>
            <a:off x="640080" y="37398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33856" y="36576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맞춤 영양제 추천 + 즉시 구매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33856" y="395020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시중 제품 중 내 몸에 최적화된 조합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828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3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NUVA LAB  ·  AI WELLNESS MATCHING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PRODUCT ECOSYSTEM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0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콘텐츠로 신뢰를 쌓고,</a:t>
            </a:r>
            <a:endParaRPr lang="en-US" sz="2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플랫폼으로 전환한다.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810512"/>
            <a:ext cx="1920240" cy="1874520"/>
          </a:xfrm>
          <a:prstGeom prst="roundRect">
            <a:avLst>
              <a:gd name="adj" fmla="val 3902"/>
            </a:avLst>
          </a:prstGeom>
          <a:solidFill>
            <a:srgbClr val="1A1A2E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Nuva Edit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인스타 매거진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팔로워·신뢰 구축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323697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유입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87168" y="1810512"/>
            <a:ext cx="1920240" cy="1874520"/>
          </a:xfrm>
          <a:prstGeom prst="roundRect">
            <a:avLst>
              <a:gd name="adj" fmla="val 3902"/>
            </a:avLst>
          </a:prstGeom>
          <a:solidFill>
            <a:srgbClr val="534AB7"/>
          </a:solidFill>
          <a:ln w="1905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0" name="Text 8"/>
          <p:cNvSpPr/>
          <p:nvPr/>
        </p:nvSpPr>
        <p:spPr>
          <a:xfrm>
            <a:off x="2624328" y="201168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Nuva Lab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624328" y="2377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EC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매칭 플랫폼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EC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수익원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24328" y="323697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EC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62856" y="1810512"/>
            <a:ext cx="1920240" cy="1874520"/>
          </a:xfrm>
          <a:prstGeom prst="roundRect">
            <a:avLst>
              <a:gd name="adj" fmla="val 3902"/>
            </a:avLst>
          </a:prstGeom>
          <a:solidFill>
            <a:srgbClr val="E1F5EE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14" name="Text 12"/>
          <p:cNvSpPr/>
          <p:nvPr/>
        </p:nvSpPr>
        <p:spPr>
          <a:xfrm>
            <a:off x="4700016" y="201168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Nuva Body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00016" y="2377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웰니스 커뮤니티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구독·리텐션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00016" y="323697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락인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38544" y="1810512"/>
            <a:ext cx="1920240" cy="1874520"/>
          </a:xfrm>
          <a:prstGeom prst="roundRect">
            <a:avLst>
              <a:gd name="adj" fmla="val 3902"/>
            </a:avLst>
          </a:prstGeom>
          <a:solidFill>
            <a:srgbClr val="F1EFE8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18" name="Text 16"/>
          <p:cNvSpPr/>
          <p:nvPr/>
        </p:nvSpPr>
        <p:spPr>
          <a:xfrm>
            <a:off x="6775704" y="201168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Nuva Wear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775704" y="2377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스포츠 의류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브랜드 확장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775704" y="323697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미래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87705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→ Lab → Body → Wear 순서로 단계적 확장. 각 채널이 다음 채널의 고객을 만든다.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BUSINESS MODEL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0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세 가지 수익원이</a:t>
            </a:r>
            <a:endParaRPr lang="en-US" sz="2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서로를 강화한다.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755648"/>
            <a:ext cx="2633472" cy="1828800"/>
          </a:xfrm>
          <a:prstGeom prst="roundRect">
            <a:avLst>
              <a:gd name="adj" fmla="val 4000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6" name="Text 4"/>
          <p:cNvSpPr/>
          <p:nvPr/>
        </p:nvSpPr>
        <p:spPr>
          <a:xfrm>
            <a:off x="557784" y="188366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3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01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7784" y="2103120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영양제 판매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57784" y="2432304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15-25%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57784" y="2907792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거래액 기준 수수료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57784" y="3127248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파트너 영양제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판매 연결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0" y="1755648"/>
            <a:ext cx="2633472" cy="1828800"/>
          </a:xfrm>
          <a:prstGeom prst="roundRect">
            <a:avLst>
              <a:gd name="adj" fmla="val 4000"/>
            </a:avLst>
          </a:prstGeom>
          <a:solidFill>
            <a:srgbClr val="7F77DD">
              <a:alpha val="25000"/>
            </a:srgbClr>
          </a:solidFill>
          <a:ln w="1905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2" name="Text 10"/>
          <p:cNvSpPr/>
          <p:nvPr/>
        </p:nvSpPr>
        <p:spPr>
          <a:xfrm>
            <a:off x="3346704" y="188366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3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02 ★ CORE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346704" y="2103120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구독 멤버십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46704" y="2432304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9,900원/월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346704" y="2907792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Nuva Body 멤버십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46704" y="3127248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무제한 AI 분석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커뮤니티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989320" y="1755648"/>
            <a:ext cx="2633472" cy="1828800"/>
          </a:xfrm>
          <a:prstGeom prst="roundRect">
            <a:avLst>
              <a:gd name="adj" fmla="val 4000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18" name="Text 16"/>
          <p:cNvSpPr/>
          <p:nvPr/>
        </p:nvSpPr>
        <p:spPr>
          <a:xfrm>
            <a:off x="6135624" y="188366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3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03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135624" y="2103120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파트너십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35624" y="2432304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계약 기반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135624" y="2907792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데이터·광고 수익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135624" y="3127248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익명 건강 트렌드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제공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3767328"/>
            <a:ext cx="8321040" cy="877824"/>
          </a:xfrm>
          <a:prstGeom prst="roundRect">
            <a:avLst>
              <a:gd name="adj" fmla="val 6250"/>
            </a:avLst>
          </a:prstGeom>
          <a:solidFill>
            <a:srgbClr val="7F77DD">
              <a:alpha val="15000"/>
            </a:srgbClr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24" name="Text 22"/>
          <p:cNvSpPr/>
          <p:nvPr/>
        </p:nvSpPr>
        <p:spPr>
          <a:xfrm>
            <a:off x="594360" y="38587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 Unit Economics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560320" y="404164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9,900원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2560320" y="440740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3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구독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0" y="404164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3개월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572000" y="440740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3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회수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583680" y="404164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60%+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583680" y="440740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3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 마진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E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GO-TO-MARKET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0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콘텐츠로 신뢰를 먼저,</a:t>
            </a:r>
            <a:endParaRPr lang="en-US" sz="2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사업은 그 다음.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691640"/>
            <a:ext cx="8321040" cy="530352"/>
          </a:xfrm>
          <a:prstGeom prst="roundRect">
            <a:avLst>
              <a:gd name="adj" fmla="val 10345"/>
            </a:avLst>
          </a:prstGeom>
          <a:solidFill>
            <a:srgbClr val="FFFFFF">
              <a:alpha val="45000"/>
            </a:srgbClr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6" name="Shape 4"/>
          <p:cNvSpPr/>
          <p:nvPr/>
        </p:nvSpPr>
        <p:spPr>
          <a:xfrm>
            <a:off x="548640" y="1801368"/>
            <a:ext cx="960120" cy="237744"/>
          </a:xfrm>
          <a:prstGeom prst="roundRect">
            <a:avLst>
              <a:gd name="adj" fmla="val 19231"/>
            </a:avLst>
          </a:prstGeom>
          <a:solidFill>
            <a:srgbClr val="1A1A2E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7" name="Text 5"/>
          <p:cNvSpPr/>
          <p:nvPr/>
        </p:nvSpPr>
        <p:spPr>
          <a:xfrm>
            <a:off x="548640" y="180136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627632" y="174650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Nuva Edit 런칭 · 콘텐츠 기반 구축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627632" y="198424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혈당·코르티솔·웰니스 매거진 운영. 팔로워·신뢰 축적.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223760" y="181965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상반기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2295144"/>
            <a:ext cx="8321040" cy="530352"/>
          </a:xfrm>
          <a:prstGeom prst="roundRect">
            <a:avLst>
              <a:gd name="adj" fmla="val 10345"/>
            </a:avLst>
          </a:prstGeom>
          <a:solidFill>
            <a:srgbClr val="FFFFFF">
              <a:alpha val="45000"/>
            </a:srgbClr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12" name="Shape 10"/>
          <p:cNvSpPr/>
          <p:nvPr/>
        </p:nvSpPr>
        <p:spPr>
          <a:xfrm>
            <a:off x="548640" y="2404872"/>
            <a:ext cx="960120" cy="237744"/>
          </a:xfrm>
          <a:prstGeom prst="roundRect">
            <a:avLst>
              <a:gd name="adj" fmla="val 19231"/>
            </a:avLst>
          </a:prstGeom>
          <a:solidFill>
            <a:srgbClr val="3C3489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13" name="Text 11"/>
          <p:cNvSpPr/>
          <p:nvPr/>
        </p:nvSpPr>
        <p:spPr>
          <a:xfrm>
            <a:off x="548640" y="2404872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627632" y="2350008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Nuva Edit 성장 · 커뮤니티 형성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27632" y="258775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시리즈 콘텐츠 확장. 1만+ 팔로워 목표. 얼리어답터 커뮤니티.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223760" y="24231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하반기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" y="2898648"/>
            <a:ext cx="8321040" cy="530352"/>
          </a:xfrm>
          <a:prstGeom prst="roundRect">
            <a:avLst>
              <a:gd name="adj" fmla="val 10345"/>
            </a:avLst>
          </a:prstGeom>
          <a:solidFill>
            <a:srgbClr val="FFFFFF">
              <a:alpha val="45000"/>
            </a:srgbClr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18" name="Shape 16"/>
          <p:cNvSpPr/>
          <p:nvPr/>
        </p:nvSpPr>
        <p:spPr>
          <a:xfrm>
            <a:off x="548640" y="3008376"/>
            <a:ext cx="960120" cy="237744"/>
          </a:xfrm>
          <a:prstGeom prst="roundRect">
            <a:avLst>
              <a:gd name="adj" fmla="val 19231"/>
            </a:avLst>
          </a:prstGeom>
          <a:solidFill>
            <a:srgbClr val="7F77DD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19" name="Text 17"/>
          <p:cNvSpPr/>
          <p:nvPr/>
        </p:nvSpPr>
        <p:spPr>
          <a:xfrm>
            <a:off x="548640" y="3008376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627632" y="2953512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Nuva Lab MVP 개발 · 베타 출시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627632" y="3191256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팔로워 대상 얼리 액세스. AI 추천 MVP. 영양제 파트너 확보.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223760" y="3026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상반기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3502152"/>
            <a:ext cx="8321040" cy="530352"/>
          </a:xfrm>
          <a:prstGeom prst="roundRect">
            <a:avLst>
              <a:gd name="adj" fmla="val 10345"/>
            </a:avLst>
          </a:prstGeom>
          <a:solidFill>
            <a:srgbClr val="FFFFFF">
              <a:alpha val="45000"/>
            </a:srgbClr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24" name="Shape 22"/>
          <p:cNvSpPr/>
          <p:nvPr/>
        </p:nvSpPr>
        <p:spPr>
          <a:xfrm>
            <a:off x="548640" y="3611880"/>
            <a:ext cx="960120" cy="237744"/>
          </a:xfrm>
          <a:prstGeom prst="roundRect">
            <a:avLst>
              <a:gd name="adj" fmla="val 19231"/>
            </a:avLst>
          </a:prstGeom>
          <a:solidFill>
            <a:srgbClr val="534AB7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25" name="Text 23"/>
          <p:cNvSpPr/>
          <p:nvPr/>
        </p:nvSpPr>
        <p:spPr>
          <a:xfrm>
            <a:off x="548640" y="361188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627632" y="3557016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Nuva Lab 정식 론칭 · 구독 박스 시작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627632" y="379476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구독 박스 서비스 가동. 수익 모델 본격화.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223760" y="363016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하반기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1480" y="4105656"/>
            <a:ext cx="8321040" cy="530352"/>
          </a:xfrm>
          <a:prstGeom prst="roundRect">
            <a:avLst>
              <a:gd name="adj" fmla="val 10345"/>
            </a:avLst>
          </a:prstGeom>
          <a:solidFill>
            <a:srgbClr val="FFFFFF">
              <a:alpha val="45000"/>
            </a:srgbClr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30" name="Shape 28"/>
          <p:cNvSpPr/>
          <p:nvPr/>
        </p:nvSpPr>
        <p:spPr>
          <a:xfrm>
            <a:off x="548640" y="4215384"/>
            <a:ext cx="960120" cy="237744"/>
          </a:xfrm>
          <a:prstGeom prst="roundRect">
            <a:avLst>
              <a:gd name="adj" fmla="val 19231"/>
            </a:avLst>
          </a:prstGeom>
          <a:solidFill>
            <a:srgbClr val="2C1F3A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31" name="Text 29"/>
          <p:cNvSpPr/>
          <p:nvPr/>
        </p:nvSpPr>
        <p:spPr>
          <a:xfrm>
            <a:off x="548640" y="4215384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627632" y="416052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Nuva Body · Wear 확장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627632" y="4398264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커뮤니티·멤버십·스포츠 의류 브랜드 확장.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223760" y="423367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2028+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47731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인스타 콘텐츠 1년으로 신뢰·팬덤 확보 → 2027 하반기 사업 론칭. 가장 리스크 낮은 경로.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C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TRACTION &amp; MILESTONES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0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완료된 것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182880" cy="182880"/>
          </a:xfrm>
          <a:prstGeom prst="ellipse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6" name="Text 4"/>
          <p:cNvSpPr/>
          <p:nvPr/>
        </p:nvSpPr>
        <p:spPr>
          <a:xfrm>
            <a:off x="749808" y="10241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브랜드 네이밍 · 아이덴티티 확정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182880" cy="182880"/>
          </a:xfrm>
          <a:prstGeom prst="ellipse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8" name="Text 6"/>
          <p:cNvSpPr/>
          <p:nvPr/>
        </p:nvSpPr>
        <p:spPr>
          <a:xfrm>
            <a:off x="749808" y="168249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브랜드 가이드라인 v1.0 완성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395728"/>
            <a:ext cx="182880" cy="182880"/>
          </a:xfrm>
          <a:prstGeom prst="ellipse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콘텐츠 전략 · 4주 캘린더 설계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054096"/>
            <a:ext cx="182880" cy="182880"/>
          </a:xfrm>
          <a:prstGeom prst="ellipse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2" name="Text 10"/>
          <p:cNvSpPr/>
          <p:nvPr/>
        </p:nvSpPr>
        <p:spPr>
          <a:xfrm>
            <a:off x="749808" y="29992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Nuva Edit 피드 템플릿 제작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712464"/>
            <a:ext cx="182880" cy="182880"/>
          </a:xfrm>
          <a:prstGeom prst="ellipse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4" name="Text 12"/>
          <p:cNvSpPr/>
          <p:nvPr/>
        </p:nvSpPr>
        <p:spPr>
          <a:xfrm>
            <a:off x="749808" y="3657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투자자 피칭 덱 완성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3440" y="65836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2026-2027 마일스톤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078992"/>
            <a:ext cx="182880" cy="18288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7" name="Text 15"/>
          <p:cNvSpPr/>
          <p:nvPr/>
        </p:nvSpPr>
        <p:spPr>
          <a:xfrm>
            <a:off x="4956048" y="10241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Nuva Edit 런칭 · 팔로워 확보 (2026 상반기)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1737360"/>
            <a:ext cx="182880" cy="18288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9" name="Text 17"/>
          <p:cNvSpPr/>
          <p:nvPr/>
        </p:nvSpPr>
        <p:spPr>
          <a:xfrm>
            <a:off x="4956048" y="168249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팔로워 1만 달성 (2026 하반기)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2395728"/>
            <a:ext cx="182880" cy="18288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1" name="Text 19"/>
          <p:cNvSpPr/>
          <p:nvPr/>
        </p:nvSpPr>
        <p:spPr>
          <a:xfrm>
            <a:off x="4956048" y="234086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Nuva Lab MVP 개발 착수 (2027 초)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3054096"/>
            <a:ext cx="182880" cy="18288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3" name="Text 21"/>
          <p:cNvSpPr/>
          <p:nvPr/>
        </p:nvSpPr>
        <p:spPr>
          <a:xfrm>
            <a:off x="4956048" y="29992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영양제 파트너 3곳 이상 확보 (2027)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3712464"/>
            <a:ext cx="182880" cy="18288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5" name="Text 23"/>
          <p:cNvSpPr/>
          <p:nvPr/>
        </p:nvSpPr>
        <p:spPr>
          <a:xfrm>
            <a:off x="4956048" y="3657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구독 박스 정식 론칭 (2027 하반기)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754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2026년은 콘텐츠에 집중. 2027 하반기 사업 본격 시작.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E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USE OF FUNDS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0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Pre-Seed 투자금 사용 계획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527048"/>
            <a:ext cx="3291840" cy="34747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6" name="Text 4"/>
          <p:cNvSpPr/>
          <p:nvPr/>
        </p:nvSpPr>
        <p:spPr>
          <a:xfrm>
            <a:off x="411480" y="12984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0" y="14996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플랫폼 개발비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0" y="177393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Nuva Lab MVP · AI 추천 엔진 · 앱 개발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2331720"/>
            <a:ext cx="2468880" cy="347472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0" name="Text 8"/>
          <p:cNvSpPr/>
          <p:nvPr/>
        </p:nvSpPr>
        <p:spPr>
          <a:xfrm>
            <a:off x="411480" y="21031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17520" y="23042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마케팅·콘텐츠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17520" y="257860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Nuva Edit 운영 · 광고 · 인플루언서 협업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3136392"/>
            <a:ext cx="1645920" cy="347472"/>
          </a:xfrm>
          <a:prstGeom prst="rect">
            <a:avLst/>
          </a:prstGeom>
          <a:solidFill>
            <a:srgbClr val="AFA9EC"/>
          </a:solidFill>
          <a:ln w="12700">
            <a:solidFill>
              <a:srgbClr val="AFA9EC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4" name="Text 12"/>
          <p:cNvSpPr/>
          <p:nvPr/>
        </p:nvSpPr>
        <p:spPr>
          <a:xfrm>
            <a:off x="411480" y="29077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194560" y="3108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파트너십 확보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194560" y="33832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영양제 브랜드 파트너 계약 · 데이터 연동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3941064"/>
            <a:ext cx="822960" cy="347472"/>
          </a:xfrm>
          <a:prstGeom prst="rect">
            <a:avLst/>
          </a:prstGeom>
          <a:solidFill>
            <a:srgbClr val="CECBF6"/>
          </a:solidFill>
          <a:ln w="12700">
            <a:solidFill>
              <a:srgbClr val="CECBF6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8" name="Text 16"/>
          <p:cNvSpPr/>
          <p:nvPr/>
        </p:nvSpPr>
        <p:spPr>
          <a:xfrm>
            <a:off x="411480" y="37124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EC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71600" y="39136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운영·기타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71600" y="418795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법인 설립 · 특허 · 운영비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NUVA · CLOSING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0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  ·  WHY NUVA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7772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AI가 건강을 읽는 시대,</a:t>
            </a:r>
            <a:endParaRPr lang="en-US" sz="3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가장 먼저 신뢰를 쌓는</a:t>
            </a:r>
            <a:endParaRPr lang="en-US" sz="3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브랜드가 이긴다.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3520440"/>
            <a:ext cx="502920" cy="64008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3749040"/>
            <a:ext cx="2651760" cy="731520"/>
          </a:xfrm>
          <a:prstGeom prst="roundRect">
            <a:avLst>
              <a:gd name="adj" fmla="val 7500"/>
            </a:avLst>
          </a:prstGeom>
          <a:solidFill>
            <a:srgbClr val="7F77DD">
              <a:alpha val="15000"/>
            </a:srgbClr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8" name="Text 6"/>
          <p:cNvSpPr/>
          <p:nvPr/>
        </p:nvSpPr>
        <p:spPr>
          <a:xfrm>
            <a:off x="621792" y="384048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21792" y="404164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nuva.lab.kr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83280" y="3749040"/>
            <a:ext cx="2651760" cy="731520"/>
          </a:xfrm>
          <a:prstGeom prst="roundRect">
            <a:avLst>
              <a:gd name="adj" fmla="val 7500"/>
            </a:avLst>
          </a:prstGeom>
          <a:solidFill>
            <a:srgbClr val="7F77DD">
              <a:alpha val="15000"/>
            </a:srgbClr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11" name="Text 9"/>
          <p:cNvSpPr/>
          <p:nvPr/>
        </p:nvSpPr>
        <p:spPr>
          <a:xfrm>
            <a:off x="3547872" y="384048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47872" y="404164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@nuva.edit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773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BODY HAS DATA. NUVA READS IT.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708</Words>
  <Application>Microsoft Macintosh PowerPoint</Application>
  <PresentationFormat>화면 슬라이드 쇼(16:9)</PresentationFormat>
  <Paragraphs>176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Nuva — Investor Pitch Deck v3</dc:title>
  <dc:subject>PptxGenJS Presentation</dc:subject>
  <dc:creator>PptxGenJS</dc:creator>
  <cp:lastModifiedBy>정음 장</cp:lastModifiedBy>
  <cp:revision>1</cp:revision>
  <dcterms:created xsi:type="dcterms:W3CDTF">2026-03-21T14:49:14Z</dcterms:created>
  <dcterms:modified xsi:type="dcterms:W3CDTF">2026-03-21T14:50:54Z</dcterms:modified>
</cp:coreProperties>
</file>